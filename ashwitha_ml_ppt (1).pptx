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B935EE-9A99-0C1C-BF06-A6F0676A41E9}" v="88" dt="2026-04-26T06:47:36.267"/>
    <p1510:client id="{427D6EF1-9921-4FA6-ABD7-54A80AB19DBD}" v="36" dt="2026-04-26T06:01:09.630"/>
    <p1510:client id="{CCCF6539-69C2-977E-F78D-A3D9BABEEA58}" v="1" dt="2026-04-26T06:33:22.0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68" d="100"/>
          <a:sy n="68" d="100"/>
        </p:scale>
        <p:origin x="-798" y="-9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EF56DB-6447-4E9A-8D0B-327B958AB26D}" type="datetimeFigureOut">
              <a:rPr lang="en-US" smtClean="0"/>
              <a:pPr/>
              <a:t>4/27/2026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476D98-D61B-4655-9F07-885518B2E134}" type="slidenum">
              <a:rPr lang="en-US" smtClean="0"/>
              <a:pPr/>
              <a:t>‹#›</a:t>
            </a:fld>
            <a:endParaRPr lang="en-US"/>
          </a:p>
        </p:txBody>
      </p:sp>
    </p:spTree>
    <p:extLst>
      <p:ext uri="{BB962C8B-B14F-4D97-AF65-F5344CB8AC3E}">
        <p14:creationId xmlns:p14="http://schemas.microsoft.com/office/powerpoint/2010/main" xmlns="" val="905179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42F0ED-5252-4C0D-3BA2-BA6ECDF907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34F6E366-4DE2-8E81-1DC3-0AEE197AF6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58C19ECA-A45F-0986-41DE-E73470F3D075}"/>
              </a:ext>
            </a:extLst>
          </p:cNvPr>
          <p:cNvSpPr>
            <a:spLocks noGrp="1"/>
          </p:cNvSpPr>
          <p:nvPr>
            <p:ph type="dt" sz="half" idx="10"/>
          </p:nvPr>
        </p:nvSpPr>
        <p:spPr/>
        <p:txBody>
          <a:bodyPr/>
          <a:lstStyle/>
          <a:p>
            <a:fld id="{36A8A127-BB09-41A4-B1CB-CF09F8E9604A}" type="datetime1">
              <a:rPr lang="en-US" smtClean="0"/>
              <a:pPr/>
              <a:t>4/27/2026</a:t>
            </a:fld>
            <a:endParaRPr lang="en-US"/>
          </a:p>
        </p:txBody>
      </p:sp>
      <p:sp>
        <p:nvSpPr>
          <p:cNvPr id="5" name="Footer Placeholder 4">
            <a:extLst>
              <a:ext uri="{FF2B5EF4-FFF2-40B4-BE49-F238E27FC236}">
                <a16:creationId xmlns:a16="http://schemas.microsoft.com/office/drawing/2014/main" xmlns="" id="{246DC80E-2DDD-1136-4BC6-B4406DBF7B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D3C6432E-64B5-4716-F794-CD0C848FE6AA}"/>
              </a:ext>
            </a:extLst>
          </p:cNvPr>
          <p:cNvSpPr>
            <a:spLocks noGrp="1"/>
          </p:cNvSpPr>
          <p:nvPr>
            <p:ph type="sldNum" sz="quarter" idx="12"/>
          </p:nvPr>
        </p:nvSpPr>
        <p:spPr/>
        <p:txBody>
          <a:bodyPr/>
          <a:lstStyle/>
          <a:p>
            <a:fld id="{1FCEF87E-815D-44D1-B0AB-39AF0402D6A8}" type="slidenum">
              <a:rPr lang="en-US" smtClean="0"/>
              <a:pPr/>
              <a:t>‹#›</a:t>
            </a:fld>
            <a:endParaRPr lang="en-US"/>
          </a:p>
        </p:txBody>
      </p:sp>
    </p:spTree>
    <p:extLst>
      <p:ext uri="{BB962C8B-B14F-4D97-AF65-F5344CB8AC3E}">
        <p14:creationId xmlns:p14="http://schemas.microsoft.com/office/powerpoint/2010/main" xmlns="" val="2144428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5275F44-3844-F881-3DC9-E55F3A5BB2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88B5DD6E-70DC-EC37-F363-8CA0371D48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0E884CC4-4338-D905-6FCE-6141610CE918}"/>
              </a:ext>
            </a:extLst>
          </p:cNvPr>
          <p:cNvSpPr>
            <a:spLocks noGrp="1"/>
          </p:cNvSpPr>
          <p:nvPr>
            <p:ph type="dt" sz="half" idx="10"/>
          </p:nvPr>
        </p:nvSpPr>
        <p:spPr/>
        <p:txBody>
          <a:bodyPr/>
          <a:lstStyle/>
          <a:p>
            <a:fld id="{42A9C543-C1A5-4BB5-A80B-9531F5C51CEB}" type="datetime1">
              <a:rPr lang="en-US" smtClean="0"/>
              <a:pPr/>
              <a:t>4/27/2026</a:t>
            </a:fld>
            <a:endParaRPr lang="en-US"/>
          </a:p>
        </p:txBody>
      </p:sp>
      <p:sp>
        <p:nvSpPr>
          <p:cNvPr id="5" name="Footer Placeholder 4">
            <a:extLst>
              <a:ext uri="{FF2B5EF4-FFF2-40B4-BE49-F238E27FC236}">
                <a16:creationId xmlns:a16="http://schemas.microsoft.com/office/drawing/2014/main" xmlns="" id="{AD46F4CB-E19E-BF21-CA04-20FBF9E0B0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C4C561CA-A7D9-921E-283C-D2D26EC9D331}"/>
              </a:ext>
            </a:extLst>
          </p:cNvPr>
          <p:cNvSpPr>
            <a:spLocks noGrp="1"/>
          </p:cNvSpPr>
          <p:nvPr>
            <p:ph type="sldNum" sz="quarter" idx="12"/>
          </p:nvPr>
        </p:nvSpPr>
        <p:spPr/>
        <p:txBody>
          <a:bodyPr/>
          <a:lstStyle/>
          <a:p>
            <a:fld id="{1FCEF87E-815D-44D1-B0AB-39AF0402D6A8}" type="slidenum">
              <a:rPr lang="en-US" smtClean="0"/>
              <a:pPr/>
              <a:t>‹#›</a:t>
            </a:fld>
            <a:endParaRPr lang="en-US"/>
          </a:p>
        </p:txBody>
      </p:sp>
    </p:spTree>
    <p:extLst>
      <p:ext uri="{BB962C8B-B14F-4D97-AF65-F5344CB8AC3E}">
        <p14:creationId xmlns:p14="http://schemas.microsoft.com/office/powerpoint/2010/main" xmlns="" val="3855382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99F0DB8-4328-6842-4C20-194E16496B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FD1C16DD-B055-C373-DB9C-1095E3A7F6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C0308B3A-5B20-B104-4DC9-F294FE85DC4F}"/>
              </a:ext>
            </a:extLst>
          </p:cNvPr>
          <p:cNvSpPr>
            <a:spLocks noGrp="1"/>
          </p:cNvSpPr>
          <p:nvPr>
            <p:ph type="dt" sz="half" idx="10"/>
          </p:nvPr>
        </p:nvSpPr>
        <p:spPr/>
        <p:txBody>
          <a:bodyPr/>
          <a:lstStyle/>
          <a:p>
            <a:fld id="{85DB2ABE-BEC8-4A12-8AF2-3E9347C9F9C5}" type="datetime1">
              <a:rPr lang="en-US" smtClean="0"/>
              <a:pPr/>
              <a:t>4/27/2026</a:t>
            </a:fld>
            <a:endParaRPr lang="en-US"/>
          </a:p>
        </p:txBody>
      </p:sp>
      <p:sp>
        <p:nvSpPr>
          <p:cNvPr id="5" name="Footer Placeholder 4">
            <a:extLst>
              <a:ext uri="{FF2B5EF4-FFF2-40B4-BE49-F238E27FC236}">
                <a16:creationId xmlns:a16="http://schemas.microsoft.com/office/drawing/2014/main" xmlns="" id="{242F6EF1-C2BF-E0B8-5AD2-1E80894A92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673C3E5B-79C1-F551-EB78-424972E416AB}"/>
              </a:ext>
            </a:extLst>
          </p:cNvPr>
          <p:cNvSpPr>
            <a:spLocks noGrp="1"/>
          </p:cNvSpPr>
          <p:nvPr>
            <p:ph type="sldNum" sz="quarter" idx="12"/>
          </p:nvPr>
        </p:nvSpPr>
        <p:spPr/>
        <p:txBody>
          <a:bodyPr/>
          <a:lstStyle/>
          <a:p>
            <a:fld id="{1FCEF87E-815D-44D1-B0AB-39AF0402D6A8}" type="slidenum">
              <a:rPr lang="en-US" smtClean="0"/>
              <a:pPr/>
              <a:t>‹#›</a:t>
            </a:fld>
            <a:endParaRPr lang="en-US"/>
          </a:p>
        </p:txBody>
      </p:sp>
    </p:spTree>
    <p:extLst>
      <p:ext uri="{BB962C8B-B14F-4D97-AF65-F5344CB8AC3E}">
        <p14:creationId xmlns:p14="http://schemas.microsoft.com/office/powerpoint/2010/main" xmlns="" val="2362975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84FA2CF-D4B2-C0EA-7D8B-9997981DFC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3C8EC816-FAB0-61B5-B8A9-3CEEDE3AC6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B6888030-9606-40F3-F568-569861E67B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1F26BC2E-18CA-513E-BBD3-A4A6A46824FE}"/>
              </a:ext>
            </a:extLst>
          </p:cNvPr>
          <p:cNvSpPr>
            <a:spLocks noGrp="1"/>
          </p:cNvSpPr>
          <p:nvPr>
            <p:ph type="dt" sz="half" idx="10"/>
          </p:nvPr>
        </p:nvSpPr>
        <p:spPr/>
        <p:txBody>
          <a:bodyPr/>
          <a:lstStyle/>
          <a:p>
            <a:fld id="{E457CA91-FD83-4EFE-93EA-63992C03614F}" type="datetime1">
              <a:rPr lang="en-US" smtClean="0"/>
              <a:pPr/>
              <a:t>4/27/2026</a:t>
            </a:fld>
            <a:endParaRPr lang="en-US"/>
          </a:p>
        </p:txBody>
      </p:sp>
      <p:sp>
        <p:nvSpPr>
          <p:cNvPr id="6" name="Footer Placeholder 5">
            <a:extLst>
              <a:ext uri="{FF2B5EF4-FFF2-40B4-BE49-F238E27FC236}">
                <a16:creationId xmlns:a16="http://schemas.microsoft.com/office/drawing/2014/main" xmlns="" id="{7610C424-8EE7-DCF3-92CA-9943CA217B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13B02771-6578-A3F3-2DE5-957F26935FA9}"/>
              </a:ext>
            </a:extLst>
          </p:cNvPr>
          <p:cNvSpPr>
            <a:spLocks noGrp="1"/>
          </p:cNvSpPr>
          <p:nvPr>
            <p:ph type="sldNum" sz="quarter" idx="12"/>
          </p:nvPr>
        </p:nvSpPr>
        <p:spPr/>
        <p:txBody>
          <a:bodyPr/>
          <a:lstStyle/>
          <a:p>
            <a:fld id="{1FCEF87E-815D-44D1-B0AB-39AF0402D6A8}" type="slidenum">
              <a:rPr lang="en-US" smtClean="0"/>
              <a:pPr/>
              <a:t>‹#›</a:t>
            </a:fld>
            <a:endParaRPr lang="en-US"/>
          </a:p>
        </p:txBody>
      </p:sp>
    </p:spTree>
    <p:extLst>
      <p:ext uri="{BB962C8B-B14F-4D97-AF65-F5344CB8AC3E}">
        <p14:creationId xmlns:p14="http://schemas.microsoft.com/office/powerpoint/2010/main" xmlns="" val="1846501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43A56EB-15F3-DA5A-FC5F-C8A9854DFC2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E44F55B3-769C-0F68-56E4-09A31651F0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949390E3-482E-14E5-E93E-3EFDFCA024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8A5F7FD4-A0A2-100E-247B-0439DA6A8E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9AB19785-7F9E-F7E7-9989-FBA2A2436A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599BF4CB-4B11-6795-84C1-91B139428AEE}"/>
              </a:ext>
            </a:extLst>
          </p:cNvPr>
          <p:cNvSpPr>
            <a:spLocks noGrp="1"/>
          </p:cNvSpPr>
          <p:nvPr>
            <p:ph type="dt" sz="half" idx="10"/>
          </p:nvPr>
        </p:nvSpPr>
        <p:spPr/>
        <p:txBody>
          <a:bodyPr/>
          <a:lstStyle/>
          <a:p>
            <a:fld id="{07D6C43A-13E2-48A2-BAE5-CC73887FC199}" type="datetime1">
              <a:rPr lang="en-US" smtClean="0"/>
              <a:pPr/>
              <a:t>4/27/2026</a:t>
            </a:fld>
            <a:endParaRPr lang="en-US"/>
          </a:p>
        </p:txBody>
      </p:sp>
      <p:sp>
        <p:nvSpPr>
          <p:cNvPr id="8" name="Footer Placeholder 7">
            <a:extLst>
              <a:ext uri="{FF2B5EF4-FFF2-40B4-BE49-F238E27FC236}">
                <a16:creationId xmlns:a16="http://schemas.microsoft.com/office/drawing/2014/main" xmlns="" id="{F52FCB82-5972-D333-E21C-DF24F6BCF49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AF12211A-324E-9069-32B0-8F509730AD76}"/>
              </a:ext>
            </a:extLst>
          </p:cNvPr>
          <p:cNvSpPr>
            <a:spLocks noGrp="1"/>
          </p:cNvSpPr>
          <p:nvPr>
            <p:ph type="sldNum" sz="quarter" idx="12"/>
          </p:nvPr>
        </p:nvSpPr>
        <p:spPr/>
        <p:txBody>
          <a:bodyPr/>
          <a:lstStyle/>
          <a:p>
            <a:fld id="{1FCEF87E-815D-44D1-B0AB-39AF0402D6A8}" type="slidenum">
              <a:rPr lang="en-US" smtClean="0"/>
              <a:pPr/>
              <a:t>‹#›</a:t>
            </a:fld>
            <a:endParaRPr lang="en-US"/>
          </a:p>
        </p:txBody>
      </p:sp>
    </p:spTree>
    <p:extLst>
      <p:ext uri="{BB962C8B-B14F-4D97-AF65-F5344CB8AC3E}">
        <p14:creationId xmlns:p14="http://schemas.microsoft.com/office/powerpoint/2010/main" xmlns="" val="3342088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040A965-A2B0-80BB-C6BA-CCCFA272AED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DF0A2016-FBBB-4A1F-6F9E-FE6A63DE4832}"/>
              </a:ext>
            </a:extLst>
          </p:cNvPr>
          <p:cNvSpPr>
            <a:spLocks noGrp="1"/>
          </p:cNvSpPr>
          <p:nvPr>
            <p:ph type="dt" sz="half" idx="10"/>
          </p:nvPr>
        </p:nvSpPr>
        <p:spPr/>
        <p:txBody>
          <a:bodyPr/>
          <a:lstStyle/>
          <a:p>
            <a:fld id="{4EA2C5D3-416C-4131-8BC9-E71DA97D5A64}" type="datetime1">
              <a:rPr lang="en-US" smtClean="0"/>
              <a:pPr/>
              <a:t>4/27/2026</a:t>
            </a:fld>
            <a:endParaRPr lang="en-US"/>
          </a:p>
        </p:txBody>
      </p:sp>
      <p:sp>
        <p:nvSpPr>
          <p:cNvPr id="4" name="Footer Placeholder 3">
            <a:extLst>
              <a:ext uri="{FF2B5EF4-FFF2-40B4-BE49-F238E27FC236}">
                <a16:creationId xmlns:a16="http://schemas.microsoft.com/office/drawing/2014/main" xmlns="" id="{EBE845DF-F961-5466-32C3-C6385060CC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76E057F6-928A-6D9F-4161-C04DEAA83D65}"/>
              </a:ext>
            </a:extLst>
          </p:cNvPr>
          <p:cNvSpPr>
            <a:spLocks noGrp="1"/>
          </p:cNvSpPr>
          <p:nvPr>
            <p:ph type="sldNum" sz="quarter" idx="12"/>
          </p:nvPr>
        </p:nvSpPr>
        <p:spPr/>
        <p:txBody>
          <a:bodyPr/>
          <a:lstStyle/>
          <a:p>
            <a:fld id="{1FCEF87E-815D-44D1-B0AB-39AF0402D6A8}" type="slidenum">
              <a:rPr lang="en-US" smtClean="0"/>
              <a:pPr/>
              <a:t>‹#›</a:t>
            </a:fld>
            <a:endParaRPr lang="en-US"/>
          </a:p>
        </p:txBody>
      </p:sp>
    </p:spTree>
    <p:extLst>
      <p:ext uri="{BB962C8B-B14F-4D97-AF65-F5344CB8AC3E}">
        <p14:creationId xmlns:p14="http://schemas.microsoft.com/office/powerpoint/2010/main" xmlns="" val="20759743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3DB366D7-6680-4FD6-C029-DC5C0BB2354F}"/>
              </a:ext>
            </a:extLst>
          </p:cNvPr>
          <p:cNvSpPr>
            <a:spLocks noGrp="1"/>
          </p:cNvSpPr>
          <p:nvPr>
            <p:ph type="dt" sz="half" idx="10"/>
          </p:nvPr>
        </p:nvSpPr>
        <p:spPr/>
        <p:txBody>
          <a:bodyPr/>
          <a:lstStyle/>
          <a:p>
            <a:fld id="{B8971593-8386-48B7-BB85-87C0949B2086}" type="datetime1">
              <a:rPr lang="en-US" smtClean="0"/>
              <a:pPr/>
              <a:t>4/27/2026</a:t>
            </a:fld>
            <a:endParaRPr lang="en-US"/>
          </a:p>
        </p:txBody>
      </p:sp>
      <p:sp>
        <p:nvSpPr>
          <p:cNvPr id="3" name="Footer Placeholder 2">
            <a:extLst>
              <a:ext uri="{FF2B5EF4-FFF2-40B4-BE49-F238E27FC236}">
                <a16:creationId xmlns:a16="http://schemas.microsoft.com/office/drawing/2014/main" xmlns="" id="{94179984-8567-91CB-0310-29A3752B78B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A22C7A0D-606C-3BF9-8DBE-908D80966AD1}"/>
              </a:ext>
            </a:extLst>
          </p:cNvPr>
          <p:cNvSpPr>
            <a:spLocks noGrp="1"/>
          </p:cNvSpPr>
          <p:nvPr>
            <p:ph type="sldNum" sz="quarter" idx="12"/>
          </p:nvPr>
        </p:nvSpPr>
        <p:spPr/>
        <p:txBody>
          <a:bodyPr/>
          <a:lstStyle/>
          <a:p>
            <a:fld id="{1FCEF87E-815D-44D1-B0AB-39AF0402D6A8}" type="slidenum">
              <a:rPr lang="en-US" smtClean="0"/>
              <a:pPr/>
              <a:t>‹#›</a:t>
            </a:fld>
            <a:endParaRPr lang="en-US"/>
          </a:p>
        </p:txBody>
      </p:sp>
    </p:spTree>
    <p:extLst>
      <p:ext uri="{BB962C8B-B14F-4D97-AF65-F5344CB8AC3E}">
        <p14:creationId xmlns:p14="http://schemas.microsoft.com/office/powerpoint/2010/main" xmlns="" val="2799376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C684C1-8596-31A1-180D-C7EC5332BB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713762C2-B7CC-ADA3-9D39-3541B3FE5A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6835A5F9-7E68-401F-C3BB-09FB74F82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2A5F73E6-ECB8-2943-41D8-05812D848AD3}"/>
              </a:ext>
            </a:extLst>
          </p:cNvPr>
          <p:cNvSpPr>
            <a:spLocks noGrp="1"/>
          </p:cNvSpPr>
          <p:nvPr>
            <p:ph type="dt" sz="half" idx="10"/>
          </p:nvPr>
        </p:nvSpPr>
        <p:spPr/>
        <p:txBody>
          <a:bodyPr/>
          <a:lstStyle/>
          <a:p>
            <a:fld id="{3070F398-88D3-4D2F-9F7E-785BF8AD0274}" type="datetime1">
              <a:rPr lang="en-US" smtClean="0"/>
              <a:pPr/>
              <a:t>4/27/2026</a:t>
            </a:fld>
            <a:endParaRPr lang="en-US"/>
          </a:p>
        </p:txBody>
      </p:sp>
      <p:sp>
        <p:nvSpPr>
          <p:cNvPr id="6" name="Footer Placeholder 5">
            <a:extLst>
              <a:ext uri="{FF2B5EF4-FFF2-40B4-BE49-F238E27FC236}">
                <a16:creationId xmlns:a16="http://schemas.microsoft.com/office/drawing/2014/main" xmlns="" id="{D86B5AF7-95CA-05D2-1119-F667C7B6F8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22599C23-C916-AE53-9371-42CF3819D0E1}"/>
              </a:ext>
            </a:extLst>
          </p:cNvPr>
          <p:cNvSpPr>
            <a:spLocks noGrp="1"/>
          </p:cNvSpPr>
          <p:nvPr>
            <p:ph type="sldNum" sz="quarter" idx="12"/>
          </p:nvPr>
        </p:nvSpPr>
        <p:spPr/>
        <p:txBody>
          <a:bodyPr/>
          <a:lstStyle/>
          <a:p>
            <a:fld id="{1FCEF87E-815D-44D1-B0AB-39AF0402D6A8}" type="slidenum">
              <a:rPr lang="en-US" smtClean="0"/>
              <a:pPr/>
              <a:t>‹#›</a:t>
            </a:fld>
            <a:endParaRPr lang="en-US"/>
          </a:p>
        </p:txBody>
      </p:sp>
    </p:spTree>
    <p:extLst>
      <p:ext uri="{BB962C8B-B14F-4D97-AF65-F5344CB8AC3E}">
        <p14:creationId xmlns:p14="http://schemas.microsoft.com/office/powerpoint/2010/main" xmlns="" val="1574991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B9AC56-39A4-2278-722C-617F9F770A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B1FAD1B2-1942-74FB-C400-0DB0C13B90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B1DA8F38-E9BE-47E4-7662-3CD4AECCB2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A228AE0B-2CCA-EDA3-1B80-8F2E1DF84CA6}"/>
              </a:ext>
            </a:extLst>
          </p:cNvPr>
          <p:cNvSpPr>
            <a:spLocks noGrp="1"/>
          </p:cNvSpPr>
          <p:nvPr>
            <p:ph type="dt" sz="half" idx="10"/>
          </p:nvPr>
        </p:nvSpPr>
        <p:spPr/>
        <p:txBody>
          <a:bodyPr/>
          <a:lstStyle/>
          <a:p>
            <a:fld id="{CE1A94C1-07AC-4775-8A4F-70BB05306BF7}" type="datetime1">
              <a:rPr lang="en-US" smtClean="0"/>
              <a:pPr/>
              <a:t>4/27/2026</a:t>
            </a:fld>
            <a:endParaRPr lang="en-US"/>
          </a:p>
        </p:txBody>
      </p:sp>
      <p:sp>
        <p:nvSpPr>
          <p:cNvPr id="6" name="Footer Placeholder 5">
            <a:extLst>
              <a:ext uri="{FF2B5EF4-FFF2-40B4-BE49-F238E27FC236}">
                <a16:creationId xmlns:a16="http://schemas.microsoft.com/office/drawing/2014/main" xmlns="" id="{2FDB1342-9AFD-57F0-2E90-76ECCEAFA3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6DE180B8-E20A-6138-1A1C-1E980CAD40A5}"/>
              </a:ext>
            </a:extLst>
          </p:cNvPr>
          <p:cNvSpPr>
            <a:spLocks noGrp="1"/>
          </p:cNvSpPr>
          <p:nvPr>
            <p:ph type="sldNum" sz="quarter" idx="12"/>
          </p:nvPr>
        </p:nvSpPr>
        <p:spPr/>
        <p:txBody>
          <a:bodyPr/>
          <a:lstStyle/>
          <a:p>
            <a:fld id="{1FCEF87E-815D-44D1-B0AB-39AF0402D6A8}" type="slidenum">
              <a:rPr lang="en-US" smtClean="0"/>
              <a:pPr/>
              <a:t>‹#›</a:t>
            </a:fld>
            <a:endParaRPr lang="en-US"/>
          </a:p>
        </p:txBody>
      </p:sp>
    </p:spTree>
    <p:extLst>
      <p:ext uri="{BB962C8B-B14F-4D97-AF65-F5344CB8AC3E}">
        <p14:creationId xmlns:p14="http://schemas.microsoft.com/office/powerpoint/2010/main" xmlns="" val="2969494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6F050B6-05B4-E3FE-22C0-B823946C349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A534B519-CE0F-EF5E-0363-067F1B0DB1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69E2CA70-5E41-1433-D1D4-58B7EECA7D33}"/>
              </a:ext>
            </a:extLst>
          </p:cNvPr>
          <p:cNvSpPr>
            <a:spLocks noGrp="1"/>
          </p:cNvSpPr>
          <p:nvPr>
            <p:ph type="dt" sz="half" idx="10"/>
          </p:nvPr>
        </p:nvSpPr>
        <p:spPr/>
        <p:txBody>
          <a:bodyPr/>
          <a:lstStyle/>
          <a:p>
            <a:fld id="{850BF149-3A71-4B38-9BDE-7A4D7C7AB1AD}" type="datetime1">
              <a:rPr lang="en-US" smtClean="0"/>
              <a:pPr/>
              <a:t>4/27/2026</a:t>
            </a:fld>
            <a:endParaRPr lang="en-US"/>
          </a:p>
        </p:txBody>
      </p:sp>
      <p:sp>
        <p:nvSpPr>
          <p:cNvPr id="5" name="Footer Placeholder 4">
            <a:extLst>
              <a:ext uri="{FF2B5EF4-FFF2-40B4-BE49-F238E27FC236}">
                <a16:creationId xmlns:a16="http://schemas.microsoft.com/office/drawing/2014/main" xmlns="" id="{4A27E013-1DD3-69EC-2DB2-F95CD3491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3D12FAA7-8459-22BB-DD92-45D2DCDBB7A1}"/>
              </a:ext>
            </a:extLst>
          </p:cNvPr>
          <p:cNvSpPr>
            <a:spLocks noGrp="1"/>
          </p:cNvSpPr>
          <p:nvPr>
            <p:ph type="sldNum" sz="quarter" idx="12"/>
          </p:nvPr>
        </p:nvSpPr>
        <p:spPr/>
        <p:txBody>
          <a:bodyPr/>
          <a:lstStyle/>
          <a:p>
            <a:fld id="{1FCEF87E-815D-44D1-B0AB-39AF0402D6A8}" type="slidenum">
              <a:rPr lang="en-US" smtClean="0"/>
              <a:pPr/>
              <a:t>‹#›</a:t>
            </a:fld>
            <a:endParaRPr lang="en-US"/>
          </a:p>
        </p:txBody>
      </p:sp>
    </p:spTree>
    <p:extLst>
      <p:ext uri="{BB962C8B-B14F-4D97-AF65-F5344CB8AC3E}">
        <p14:creationId xmlns:p14="http://schemas.microsoft.com/office/powerpoint/2010/main" xmlns="" val="84219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2665F096-56EB-9C2E-FB81-FEE0A0CAD97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AF2D9855-6F39-E67A-6BE9-0AC527E972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F5C113E1-9951-703E-A152-D5CEEC0EEDDB}"/>
              </a:ext>
            </a:extLst>
          </p:cNvPr>
          <p:cNvSpPr>
            <a:spLocks noGrp="1"/>
          </p:cNvSpPr>
          <p:nvPr>
            <p:ph type="dt" sz="half" idx="10"/>
          </p:nvPr>
        </p:nvSpPr>
        <p:spPr/>
        <p:txBody>
          <a:bodyPr/>
          <a:lstStyle/>
          <a:p>
            <a:fld id="{25415CF1-83E4-4056-B983-BD617F30DAFA}" type="datetime1">
              <a:rPr lang="en-US" smtClean="0"/>
              <a:pPr/>
              <a:t>4/27/2026</a:t>
            </a:fld>
            <a:endParaRPr lang="en-US"/>
          </a:p>
        </p:txBody>
      </p:sp>
      <p:sp>
        <p:nvSpPr>
          <p:cNvPr id="5" name="Footer Placeholder 4">
            <a:extLst>
              <a:ext uri="{FF2B5EF4-FFF2-40B4-BE49-F238E27FC236}">
                <a16:creationId xmlns:a16="http://schemas.microsoft.com/office/drawing/2014/main" xmlns="" id="{A7463D87-637E-E53B-45EF-5E53B2925E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E75677AB-ED08-1C04-AEC4-B8B3B85BC40F}"/>
              </a:ext>
            </a:extLst>
          </p:cNvPr>
          <p:cNvSpPr>
            <a:spLocks noGrp="1"/>
          </p:cNvSpPr>
          <p:nvPr>
            <p:ph type="sldNum" sz="quarter" idx="12"/>
          </p:nvPr>
        </p:nvSpPr>
        <p:spPr/>
        <p:txBody>
          <a:bodyPr/>
          <a:lstStyle/>
          <a:p>
            <a:fld id="{1FCEF87E-815D-44D1-B0AB-39AF0402D6A8}" type="slidenum">
              <a:rPr lang="en-US" smtClean="0"/>
              <a:pPr/>
              <a:t>‹#›</a:t>
            </a:fld>
            <a:endParaRPr lang="en-US"/>
          </a:p>
        </p:txBody>
      </p:sp>
    </p:spTree>
    <p:extLst>
      <p:ext uri="{BB962C8B-B14F-4D97-AF65-F5344CB8AC3E}">
        <p14:creationId xmlns:p14="http://schemas.microsoft.com/office/powerpoint/2010/main" xmlns="" val="996424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B34DB59C-E06D-9064-D0E9-EE878347C8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003B2644-B987-EA40-64D1-C253A45B0A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6DBC9483-BDE6-AF2E-5EF6-5FD8C63DA8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FA37CB-3111-4E43-978B-840B0C3E984E}" type="datetime1">
              <a:rPr lang="en-US" smtClean="0"/>
              <a:pPr/>
              <a:t>4/27/2026</a:t>
            </a:fld>
            <a:endParaRPr lang="en-US"/>
          </a:p>
        </p:txBody>
      </p:sp>
      <p:sp>
        <p:nvSpPr>
          <p:cNvPr id="5" name="Footer Placeholder 4">
            <a:extLst>
              <a:ext uri="{FF2B5EF4-FFF2-40B4-BE49-F238E27FC236}">
                <a16:creationId xmlns:a16="http://schemas.microsoft.com/office/drawing/2014/main" xmlns="" id="{E6345DA1-9E37-8BE4-5FD8-3086239736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89C78D0E-8A6B-A368-9312-1F3C29DDBA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CEF87E-815D-44D1-B0AB-39AF0402D6A8}" type="slidenum">
              <a:rPr lang="en-US" smtClean="0"/>
              <a:pPr/>
              <a:t>‹#›</a:t>
            </a:fld>
            <a:endParaRPr lang="en-US"/>
          </a:p>
        </p:txBody>
      </p:sp>
    </p:spTree>
    <p:extLst>
      <p:ext uri="{BB962C8B-B14F-4D97-AF65-F5344CB8AC3E}">
        <p14:creationId xmlns:p14="http://schemas.microsoft.com/office/powerpoint/2010/main" xmlns="" val="36965271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scikit-learn.org/stabl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77F15FA6-086D-491A-B175-0CA4656FBDCB}"/>
              </a:ext>
            </a:extLst>
          </p:cNvPr>
          <p:cNvPicPr/>
          <p:nvPr/>
        </p:nvPicPr>
        <p:blipFill>
          <a:blip r:embed="rId2" cstate="print"/>
          <a:srcRect l="21229" t="27213" r="21523" b="35253"/>
          <a:stretch>
            <a:fillRect/>
          </a:stretch>
        </p:blipFill>
        <p:spPr bwMode="auto">
          <a:xfrm>
            <a:off x="3256548" y="136525"/>
            <a:ext cx="4776536" cy="834189"/>
          </a:xfrm>
          <a:prstGeom prst="rect">
            <a:avLst/>
          </a:prstGeom>
          <a:ln>
            <a:headEnd/>
            <a:tailEnd type="none" w="med" len="med"/>
          </a:ln>
        </p:spPr>
        <p:style>
          <a:lnRef idx="1">
            <a:schemeClr val="accent2"/>
          </a:lnRef>
          <a:fillRef idx="3">
            <a:schemeClr val="accent2"/>
          </a:fillRef>
          <a:effectRef idx="2">
            <a:schemeClr val="accent2"/>
          </a:effectRef>
          <a:fontRef idx="minor">
            <a:schemeClr val="lt1"/>
          </a:fontRef>
        </p:style>
      </p:pic>
      <p:sp>
        <p:nvSpPr>
          <p:cNvPr id="7" name="Title 6">
            <a:extLst>
              <a:ext uri="{FF2B5EF4-FFF2-40B4-BE49-F238E27FC236}">
                <a16:creationId xmlns:a16="http://schemas.microsoft.com/office/drawing/2014/main" xmlns="" id="{5BEE647A-5606-A6E5-93DB-A43A8FC2D88A}"/>
              </a:ext>
            </a:extLst>
          </p:cNvPr>
          <p:cNvSpPr>
            <a:spLocks noGrp="1"/>
          </p:cNvSpPr>
          <p:nvPr>
            <p:ph type="ctrTitle"/>
          </p:nvPr>
        </p:nvSpPr>
        <p:spPr>
          <a:xfrm>
            <a:off x="433138" y="1251284"/>
            <a:ext cx="10812378" cy="2458586"/>
          </a:xfrm>
        </p:spPr>
        <p:txBody>
          <a:bodyPr>
            <a:noAutofit/>
          </a:bodyPr>
          <a:lstStyle/>
          <a:p>
            <a:r>
              <a:rPr lang="en-GB" sz="2400" b="1" dirty="0">
                <a:latin typeface="Times New Roman" panose="02020603050405020304" pitchFamily="18" charset="0"/>
                <a:cs typeface="Times New Roman" panose="02020603050405020304" pitchFamily="18" charset="0"/>
              </a:rPr>
              <a:t>DEPARTMENT OF</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ARTIFICIAL INTELLIGENCE AND DATA SCIENCE</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ACADEMIC YEAR 2025 - 2026</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SEMESTER III</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ARTIFICIAL INTELLIGENCE LABORATORY</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	</a:t>
            </a:r>
            <a:r>
              <a:rPr lang="en-GB" sz="2400" b="1" dirty="0">
                <a:solidFill>
                  <a:srgbClr val="002060"/>
                </a:solidFill>
                <a:latin typeface="Times New Roman" panose="02020603050405020304" pitchFamily="18" charset="0"/>
                <a:cs typeface="Times New Roman" panose="02020603050405020304" pitchFamily="18" charset="0"/>
              </a:rPr>
              <a:t>MINI PROJECT REVIEW</a:t>
            </a:r>
            <a:r>
              <a:rPr lang="en-GB" sz="2400" dirty="0">
                <a:solidFill>
                  <a:srgbClr val="002060"/>
                </a:solidFill>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3200" b="1" dirty="0" smtClean="0">
                <a:solidFill>
                  <a:srgbClr val="FF0000"/>
                </a:solidFill>
              </a:rPr>
              <a:t>HEART DISEASE </a:t>
            </a:r>
            <a:r>
              <a:rPr lang="en-GB" sz="3200" b="1" dirty="0" smtClean="0">
                <a:solidFill>
                  <a:srgbClr val="FF0000"/>
                </a:solidFill>
              </a:rPr>
              <a:t>PREDICTION  USING  </a:t>
            </a:r>
            <a:r>
              <a:rPr lang="en-GB" sz="3200" b="1" dirty="0" smtClean="0">
                <a:solidFill>
                  <a:srgbClr val="FF0000"/>
                </a:solidFill>
              </a:rPr>
              <a:t>ENSEMBLE LEARNING</a:t>
            </a:r>
            <a:endParaRPr lang="en-US" sz="32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xmlns="" id="{B39E0012-B3AF-E718-6BBA-5D37629E4005}"/>
              </a:ext>
            </a:extLst>
          </p:cNvPr>
          <p:cNvGraphicFramePr>
            <a:graphicFrameLocks noGrp="1"/>
          </p:cNvGraphicFramePr>
          <p:nvPr>
            <p:extLst>
              <p:ext uri="{D42A27DB-BD31-4B8C-83A1-F6EECF244321}">
                <p14:modId xmlns:p14="http://schemas.microsoft.com/office/powerpoint/2010/main" xmlns="" val="3614916489"/>
              </p:ext>
            </p:extLst>
          </p:nvPr>
        </p:nvGraphicFramePr>
        <p:xfrm>
          <a:off x="1854679" y="3845961"/>
          <a:ext cx="8636858" cy="2458586"/>
        </p:xfrm>
        <a:graphic>
          <a:graphicData uri="http://schemas.openxmlformats.org/drawingml/2006/table">
            <a:tbl>
              <a:tblPr firstRow="1" bandRow="1">
                <a:tableStyleId>{21E4AEA4-8DFA-4A89-87EB-49C32662AFE0}</a:tableStyleId>
              </a:tblPr>
              <a:tblGrid>
                <a:gridCol w="2460647">
                  <a:extLst>
                    <a:ext uri="{9D8B030D-6E8A-4147-A177-3AD203B41FA5}">
                      <a16:colId xmlns:a16="http://schemas.microsoft.com/office/drawing/2014/main" xmlns="" val="1924387309"/>
                    </a:ext>
                  </a:extLst>
                </a:gridCol>
                <a:gridCol w="6176211">
                  <a:extLst>
                    <a:ext uri="{9D8B030D-6E8A-4147-A177-3AD203B41FA5}">
                      <a16:colId xmlns:a16="http://schemas.microsoft.com/office/drawing/2014/main" xmlns="" val="471423325"/>
                    </a:ext>
                  </a:extLst>
                </a:gridCol>
              </a:tblGrid>
              <a:tr h="486314">
                <a:tc>
                  <a:txBody>
                    <a:bodyPr/>
                    <a:lstStyle/>
                    <a:p>
                      <a:pPr algn="l"/>
                      <a:r>
                        <a:rPr lang="en-GB" b="1" i="0" dirty="0">
                          <a:solidFill>
                            <a:schemeClr val="tx1"/>
                          </a:solidFill>
                        </a:rPr>
                        <a:t>REGISTER NUMBER</a:t>
                      </a:r>
                      <a:endParaRPr lang="en-US" b="1" i="0" dirty="0">
                        <a:solidFill>
                          <a:schemeClr val="tx1"/>
                        </a:solidFill>
                      </a:endParaRPr>
                    </a:p>
                  </a:txBody>
                  <a:tcPr/>
                </a:tc>
                <a:tc>
                  <a:txBody>
                    <a:bodyPr/>
                    <a:lstStyle/>
                    <a:p>
                      <a:pPr algn="l"/>
                      <a:r>
                        <a:rPr lang="en-US" i="0" dirty="0" smtClean="0">
                          <a:solidFill>
                            <a:schemeClr val="tx1">
                              <a:lumMod val="95000"/>
                              <a:lumOff val="5000"/>
                            </a:schemeClr>
                          </a:solidFill>
                        </a:rPr>
                        <a:t>2117240070028</a:t>
                      </a:r>
                      <a:endParaRPr lang="en-US" i="0" dirty="0">
                        <a:solidFill>
                          <a:schemeClr val="tx1">
                            <a:lumMod val="95000"/>
                            <a:lumOff val="5000"/>
                          </a:schemeClr>
                        </a:solidFill>
                      </a:endParaRPr>
                    </a:p>
                  </a:txBody>
                  <a:tcPr/>
                </a:tc>
                <a:extLst>
                  <a:ext uri="{0D108BD9-81ED-4DB2-BD59-A6C34878D82A}">
                    <a16:rowId xmlns:a16="http://schemas.microsoft.com/office/drawing/2014/main" xmlns="" val="471703413"/>
                  </a:ext>
                </a:extLst>
              </a:tr>
              <a:tr h="493068">
                <a:tc>
                  <a:txBody>
                    <a:bodyPr/>
                    <a:lstStyle/>
                    <a:p>
                      <a:r>
                        <a:rPr lang="en-GB" b="1" i="0" dirty="0">
                          <a:solidFill>
                            <a:schemeClr val="tx1"/>
                          </a:solidFill>
                        </a:rPr>
                        <a:t>NAME</a:t>
                      </a:r>
                      <a:endParaRPr lang="en-US" b="1" i="0" dirty="0">
                        <a:solidFill>
                          <a:schemeClr val="tx1"/>
                        </a:solidFill>
                      </a:endParaRPr>
                    </a:p>
                  </a:txBody>
                  <a:tcPr/>
                </a:tc>
                <a:tc>
                  <a:txBody>
                    <a:bodyPr/>
                    <a:lstStyle/>
                    <a:p>
                      <a:r>
                        <a:rPr lang="en-US" b="1" i="0" dirty="0" smtClean="0"/>
                        <a:t>ASHWITHA</a:t>
                      </a:r>
                      <a:r>
                        <a:rPr lang="en-US" b="1" i="0" baseline="0" dirty="0" smtClean="0"/>
                        <a:t> R</a:t>
                      </a:r>
                      <a:endParaRPr lang="en-US" b="1" i="0" dirty="0"/>
                    </a:p>
                  </a:txBody>
                  <a:tcPr/>
                </a:tc>
                <a:extLst>
                  <a:ext uri="{0D108BD9-81ED-4DB2-BD59-A6C34878D82A}">
                    <a16:rowId xmlns:a16="http://schemas.microsoft.com/office/drawing/2014/main" xmlns="" val="2967366592"/>
                  </a:ext>
                </a:extLst>
              </a:tr>
              <a:tr h="493068">
                <a:tc>
                  <a:txBody>
                    <a:bodyPr/>
                    <a:lstStyle/>
                    <a:p>
                      <a:r>
                        <a:rPr lang="en-GB" b="1" i="0" dirty="0">
                          <a:solidFill>
                            <a:schemeClr val="tx1"/>
                          </a:solidFill>
                        </a:rPr>
                        <a:t>YEAR</a:t>
                      </a:r>
                      <a:endParaRPr lang="en-US" b="1" i="0" dirty="0">
                        <a:solidFill>
                          <a:schemeClr val="tx1"/>
                        </a:solidFill>
                      </a:endParaRPr>
                    </a:p>
                  </a:txBody>
                  <a:tcPr/>
                </a:tc>
                <a:tc>
                  <a:txBody>
                    <a:bodyPr/>
                    <a:lstStyle/>
                    <a:p>
                      <a:r>
                        <a:rPr lang="en-US" b="1" i="0" dirty="0" err="1"/>
                        <a:t>ll</a:t>
                      </a:r>
                      <a:endParaRPr lang="en-US" b="1" i="0" dirty="0"/>
                    </a:p>
                  </a:txBody>
                  <a:tcPr/>
                </a:tc>
                <a:extLst>
                  <a:ext uri="{0D108BD9-81ED-4DB2-BD59-A6C34878D82A}">
                    <a16:rowId xmlns:a16="http://schemas.microsoft.com/office/drawing/2014/main" xmlns="" val="3106965190"/>
                  </a:ext>
                </a:extLst>
              </a:tr>
              <a:tr h="493068">
                <a:tc>
                  <a:txBody>
                    <a:bodyPr/>
                    <a:lstStyle/>
                    <a:p>
                      <a:r>
                        <a:rPr lang="en-GB" b="1" i="0" dirty="0">
                          <a:solidFill>
                            <a:schemeClr val="tx1"/>
                          </a:solidFill>
                        </a:rPr>
                        <a:t>SECTION</a:t>
                      </a:r>
                      <a:endParaRPr lang="en-US" b="1" i="0" dirty="0">
                        <a:solidFill>
                          <a:schemeClr val="tx1"/>
                        </a:solidFill>
                      </a:endParaRPr>
                    </a:p>
                  </a:txBody>
                  <a:tcPr/>
                </a:tc>
                <a:tc>
                  <a:txBody>
                    <a:bodyPr/>
                    <a:lstStyle/>
                    <a:p>
                      <a:r>
                        <a:rPr lang="en-US" b="1" i="0" dirty="0"/>
                        <a:t>A</a:t>
                      </a:r>
                    </a:p>
                  </a:txBody>
                  <a:tcPr/>
                </a:tc>
                <a:extLst>
                  <a:ext uri="{0D108BD9-81ED-4DB2-BD59-A6C34878D82A}">
                    <a16:rowId xmlns:a16="http://schemas.microsoft.com/office/drawing/2014/main" xmlns="" val="3234068443"/>
                  </a:ext>
                </a:extLst>
              </a:tr>
              <a:tr h="493068">
                <a:tc>
                  <a:txBody>
                    <a:bodyPr/>
                    <a:lstStyle/>
                    <a:p>
                      <a:r>
                        <a:rPr lang="en-GB" b="1" i="0" dirty="0">
                          <a:solidFill>
                            <a:schemeClr val="tx1"/>
                          </a:solidFill>
                        </a:rPr>
                        <a:t>FACULTY IN-CHARGE</a:t>
                      </a:r>
                      <a:endParaRPr lang="en-US" b="1" i="0" dirty="0">
                        <a:solidFill>
                          <a:schemeClr val="tx1"/>
                        </a:solidFill>
                      </a:endParaRPr>
                    </a:p>
                  </a:txBody>
                  <a:tcPr/>
                </a:tc>
                <a:tc>
                  <a:txBody>
                    <a:bodyPr/>
                    <a:lstStyle/>
                    <a:p>
                      <a:r>
                        <a:rPr lang="en-GB" b="1" i="0" dirty="0"/>
                        <a:t>Mrs. M. Divya</a:t>
                      </a:r>
                      <a:endParaRPr lang="en-US" b="1" i="0" dirty="0"/>
                    </a:p>
                  </a:txBody>
                  <a:tcPr/>
                </a:tc>
                <a:extLst>
                  <a:ext uri="{0D108BD9-81ED-4DB2-BD59-A6C34878D82A}">
                    <a16:rowId xmlns:a16="http://schemas.microsoft.com/office/drawing/2014/main" xmlns="" val="3536199969"/>
                  </a:ext>
                </a:extLst>
              </a:tr>
            </a:tbl>
          </a:graphicData>
        </a:graphic>
      </p:graphicFrame>
      <p:sp>
        <p:nvSpPr>
          <p:cNvPr id="12" name="Date Placeholder 11">
            <a:extLst>
              <a:ext uri="{FF2B5EF4-FFF2-40B4-BE49-F238E27FC236}">
                <a16:creationId xmlns:a16="http://schemas.microsoft.com/office/drawing/2014/main" xmlns="" id="{6B174A57-15CE-2FFD-86D9-B7E84692480D}"/>
              </a:ext>
            </a:extLst>
          </p:cNvPr>
          <p:cNvSpPr>
            <a:spLocks noGrp="1"/>
          </p:cNvSpPr>
          <p:nvPr>
            <p:ph type="dt" sz="half" idx="10"/>
          </p:nvPr>
        </p:nvSpPr>
        <p:spPr/>
        <p:txBody>
          <a:bodyPr/>
          <a:lstStyle/>
          <a:p>
            <a:fld id="{F9B0B098-7844-408D-9BB3-6B083FBEE8AA}" type="datetime1">
              <a:rPr lang="en-US" smtClean="0"/>
              <a:pPr/>
              <a:t>4/27/2026</a:t>
            </a:fld>
            <a:endParaRPr lang="en-US"/>
          </a:p>
        </p:txBody>
      </p:sp>
      <p:sp>
        <p:nvSpPr>
          <p:cNvPr id="13" name="Slide Number Placeholder 12">
            <a:extLst>
              <a:ext uri="{FF2B5EF4-FFF2-40B4-BE49-F238E27FC236}">
                <a16:creationId xmlns:a16="http://schemas.microsoft.com/office/drawing/2014/main" xmlns="" id="{E4873981-939E-932D-DBE2-6B02CC92B85F}"/>
              </a:ext>
            </a:extLst>
          </p:cNvPr>
          <p:cNvSpPr>
            <a:spLocks noGrp="1"/>
          </p:cNvSpPr>
          <p:nvPr>
            <p:ph type="sldNum" sz="quarter" idx="12"/>
          </p:nvPr>
        </p:nvSpPr>
        <p:spPr/>
        <p:txBody>
          <a:bodyPr/>
          <a:lstStyle/>
          <a:p>
            <a:fld id="{1FCEF87E-815D-44D1-B0AB-39AF0402D6A8}" type="slidenum">
              <a:rPr lang="en-US" smtClean="0"/>
              <a:pPr/>
              <a:t>1</a:t>
            </a:fld>
            <a:endParaRPr lang="en-US"/>
          </a:p>
        </p:txBody>
      </p:sp>
    </p:spTree>
    <p:extLst>
      <p:ext uri="{BB962C8B-B14F-4D97-AF65-F5344CB8AC3E}">
        <p14:creationId xmlns:p14="http://schemas.microsoft.com/office/powerpoint/2010/main" xmlns="" val="2720793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AE17474-C476-1051-3F37-A2159E2BEE57}"/>
              </a:ext>
            </a:extLst>
          </p:cNvPr>
          <p:cNvSpPr>
            <a:spLocks noGrp="1"/>
          </p:cNvSpPr>
          <p:nvPr>
            <p:ph idx="1"/>
          </p:nvPr>
        </p:nvSpPr>
        <p:spPr>
          <a:xfrm>
            <a:off x="422694" y="862642"/>
            <a:ext cx="11326483" cy="5667554"/>
          </a:xfrm>
        </p:spPr>
        <p:txBody>
          <a:bodyPr vert="horz" lIns="91440" tIns="45720" rIns="91440" bIns="45720" rtlCol="0" anchor="t">
            <a:noAutofit/>
          </a:bodyPr>
          <a:lstStyle/>
          <a:p>
            <a:r>
              <a:rPr lang="en-US" sz="2200" dirty="0" smtClean="0"/>
              <a:t>Heart disease diagnosis is a complex process that involves analyzing multiple clinical parameters such as cholesterol levels, blood pressure, and electrocardiogram (ECG) results</a:t>
            </a:r>
            <a:r>
              <a:rPr lang="en-US" sz="2200" dirty="0" smtClean="0"/>
              <a:t>.</a:t>
            </a:r>
          </a:p>
          <a:p>
            <a:r>
              <a:rPr lang="en-US" sz="2200" dirty="0" smtClean="0"/>
              <a:t> </a:t>
            </a:r>
            <a:r>
              <a:rPr lang="en-US" sz="2200" dirty="0" smtClean="0"/>
              <a:t>Traditional diagnostic methods often rely on individual measurements or physician expertise, which may not effectively capture the complex, non-linear relationships between these risk factors. This can lead to inaccurate predictions, delayed diagnosis, or misclassification of patients.</a:t>
            </a:r>
          </a:p>
          <a:p>
            <a:r>
              <a:rPr lang="en-US" sz="2200" dirty="0" smtClean="0"/>
              <a:t>Therefore, there is a need to develop an efficient and reliable system that can analyze multiple medical attributes simultaneously and provide accurate predictions of heart disease. The challenge is to design a machine learning model that reduces prediction errors—especially false negatives—while maintaining high accuracy and interpretability.</a:t>
            </a:r>
          </a:p>
          <a:p>
            <a:r>
              <a:rPr lang="en-US" sz="2200" dirty="0" smtClean="0"/>
              <a:t>This project aims to address this problem by implementing an ensemble learning-based approach that combines multiple classifiers to improve prediction performance and support better clinical </a:t>
            </a:r>
            <a:r>
              <a:rPr lang="en-US" sz="2200" dirty="0" smtClean="0"/>
              <a:t>decision-making</a:t>
            </a:r>
            <a:r>
              <a:rPr lang="en-US" sz="2200" dirty="0" smtClean="0"/>
              <a:t>.</a:t>
            </a:r>
            <a:endParaRPr lang="en-US" sz="2200" dirty="0"/>
          </a:p>
          <a:p>
            <a:pPr marL="0" indent="0">
              <a:buNone/>
            </a:pPr>
            <a:endParaRPr lang="en-US" sz="2100" dirty="0">
              <a:ea typeface="+mn-lt"/>
              <a:cs typeface="+mn-lt"/>
            </a:endParaRPr>
          </a:p>
          <a:p>
            <a:endParaRPr lang="en-US" sz="2100" dirty="0">
              <a:ea typeface="Calibri"/>
              <a:cs typeface="Calibri"/>
            </a:endParaRPr>
          </a:p>
          <a:p>
            <a:pPr marL="0" indent="0">
              <a:buNone/>
            </a:pPr>
            <a:endParaRPr lang="en-US" sz="1800" i="1" dirty="0"/>
          </a:p>
        </p:txBody>
      </p:sp>
      <p:sp>
        <p:nvSpPr>
          <p:cNvPr id="4" name="Date Placeholder 3">
            <a:extLst>
              <a:ext uri="{FF2B5EF4-FFF2-40B4-BE49-F238E27FC236}">
                <a16:creationId xmlns:a16="http://schemas.microsoft.com/office/drawing/2014/main" xmlns="" id="{85FF5BCC-B36E-DFE5-103F-31FA12632094}"/>
              </a:ext>
            </a:extLst>
          </p:cNvPr>
          <p:cNvSpPr>
            <a:spLocks noGrp="1"/>
          </p:cNvSpPr>
          <p:nvPr>
            <p:ph type="dt" sz="half" idx="10"/>
          </p:nvPr>
        </p:nvSpPr>
        <p:spPr/>
        <p:txBody>
          <a:bodyPr/>
          <a:lstStyle/>
          <a:p>
            <a:fld id="{316FBEDF-053F-468F-8CCF-D1ACE4FBB50D}" type="datetime1">
              <a:rPr lang="en-US" smtClean="0"/>
              <a:pPr/>
              <a:t>4/27/2026</a:t>
            </a:fld>
            <a:endParaRPr lang="en-US" dirty="0"/>
          </a:p>
        </p:txBody>
      </p:sp>
      <p:sp>
        <p:nvSpPr>
          <p:cNvPr id="5" name="Slide Number Placeholder 4">
            <a:extLst>
              <a:ext uri="{FF2B5EF4-FFF2-40B4-BE49-F238E27FC236}">
                <a16:creationId xmlns:a16="http://schemas.microsoft.com/office/drawing/2014/main" xmlns="" id="{70253399-F526-B4B1-D444-32B3A164A39F}"/>
              </a:ext>
            </a:extLst>
          </p:cNvPr>
          <p:cNvSpPr>
            <a:spLocks noGrp="1"/>
          </p:cNvSpPr>
          <p:nvPr>
            <p:ph type="sldNum" sz="quarter" idx="12"/>
          </p:nvPr>
        </p:nvSpPr>
        <p:spPr/>
        <p:txBody>
          <a:bodyPr/>
          <a:lstStyle/>
          <a:p>
            <a:fld id="{1FCEF87E-815D-44D1-B0AB-39AF0402D6A8}" type="slidenum">
              <a:rPr lang="en-US" smtClean="0"/>
              <a:pPr/>
              <a:t>2</a:t>
            </a:fld>
            <a:endParaRPr lang="en-US"/>
          </a:p>
        </p:txBody>
      </p:sp>
      <p:sp>
        <p:nvSpPr>
          <p:cNvPr id="2" name="Title 1">
            <a:extLst>
              <a:ext uri="{FF2B5EF4-FFF2-40B4-BE49-F238E27FC236}">
                <a16:creationId xmlns:a16="http://schemas.microsoft.com/office/drawing/2014/main" xmlns="" id="{723E759A-0732-65F8-ABFC-93E81441B8A8}"/>
              </a:ext>
            </a:extLst>
          </p:cNvPr>
          <p:cNvSpPr>
            <a:spLocks noGrp="1"/>
          </p:cNvSpPr>
          <p:nvPr>
            <p:ph type="title"/>
          </p:nvPr>
        </p:nvSpPr>
        <p:spPr>
          <a:xfrm>
            <a:off x="-8626" y="8177"/>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PROBLEM STATEMENT</a:t>
            </a:r>
            <a:endParaRPr lang="en-US" dirty="0">
              <a:solidFill>
                <a:schemeClr val="tx1"/>
              </a:solidFill>
            </a:endParaRPr>
          </a:p>
        </p:txBody>
      </p:sp>
    </p:spTree>
    <p:extLst>
      <p:ext uri="{BB962C8B-B14F-4D97-AF65-F5344CB8AC3E}">
        <p14:creationId xmlns:p14="http://schemas.microsoft.com/office/powerpoint/2010/main" xmlns="" val="1816614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4A34F6B-2294-8100-6428-71DD4A23A3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DE876350-5987-57CB-5096-A77DCA2009EF}"/>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IMPLEMENTATION AND CODE</a:t>
            </a:r>
            <a:endParaRPr lang="en-US" dirty="0">
              <a:solidFill>
                <a:schemeClr val="tx1"/>
              </a:solidFill>
            </a:endParaRPr>
          </a:p>
        </p:txBody>
      </p:sp>
      <p:sp>
        <p:nvSpPr>
          <p:cNvPr id="3" name="Content Placeholder 2">
            <a:extLst>
              <a:ext uri="{FF2B5EF4-FFF2-40B4-BE49-F238E27FC236}">
                <a16:creationId xmlns:a16="http://schemas.microsoft.com/office/drawing/2014/main" xmlns="" id="{A229904C-7E5E-5862-ACA4-167CDBC5044B}"/>
              </a:ext>
            </a:extLst>
          </p:cNvPr>
          <p:cNvSpPr>
            <a:spLocks noGrp="1"/>
          </p:cNvSpPr>
          <p:nvPr>
            <p:ph idx="1"/>
          </p:nvPr>
        </p:nvSpPr>
        <p:spPr>
          <a:xfrm>
            <a:off x="838200" y="1267326"/>
            <a:ext cx="10515600" cy="4909637"/>
          </a:xfrm>
        </p:spPr>
        <p:txBody>
          <a:bodyPr/>
          <a:lstStyle/>
          <a:p>
            <a:r>
              <a:rPr lang="en-GB" dirty="0"/>
              <a:t>Link to code in Git-hub Repository</a:t>
            </a:r>
          </a:p>
          <a:p>
            <a:endParaRPr lang="en-GB" dirty="0"/>
          </a:p>
          <a:p>
            <a:endParaRPr lang="en-US" dirty="0"/>
          </a:p>
        </p:txBody>
      </p:sp>
      <p:sp>
        <p:nvSpPr>
          <p:cNvPr id="4" name="Date Placeholder 3">
            <a:extLst>
              <a:ext uri="{FF2B5EF4-FFF2-40B4-BE49-F238E27FC236}">
                <a16:creationId xmlns:a16="http://schemas.microsoft.com/office/drawing/2014/main" xmlns="" id="{C0BC0E82-F7C5-E4B3-8BB9-1583AC631384}"/>
              </a:ext>
            </a:extLst>
          </p:cNvPr>
          <p:cNvSpPr>
            <a:spLocks noGrp="1"/>
          </p:cNvSpPr>
          <p:nvPr>
            <p:ph type="dt" sz="half" idx="10"/>
          </p:nvPr>
        </p:nvSpPr>
        <p:spPr/>
        <p:txBody>
          <a:bodyPr/>
          <a:lstStyle/>
          <a:p>
            <a:fld id="{C5480D13-07B8-4CF5-901F-BD1025D74351}" type="datetime1">
              <a:rPr lang="en-US" smtClean="0"/>
              <a:pPr/>
              <a:t>4/27/2026</a:t>
            </a:fld>
            <a:endParaRPr lang="en-US"/>
          </a:p>
        </p:txBody>
      </p:sp>
      <p:sp>
        <p:nvSpPr>
          <p:cNvPr id="5" name="Slide Number Placeholder 4">
            <a:extLst>
              <a:ext uri="{FF2B5EF4-FFF2-40B4-BE49-F238E27FC236}">
                <a16:creationId xmlns:a16="http://schemas.microsoft.com/office/drawing/2014/main" xmlns="" id="{04775014-201C-1110-C957-46A30A1C2417}"/>
              </a:ext>
            </a:extLst>
          </p:cNvPr>
          <p:cNvSpPr>
            <a:spLocks noGrp="1"/>
          </p:cNvSpPr>
          <p:nvPr>
            <p:ph type="sldNum" sz="quarter" idx="12"/>
          </p:nvPr>
        </p:nvSpPr>
        <p:spPr/>
        <p:txBody>
          <a:bodyPr/>
          <a:lstStyle/>
          <a:p>
            <a:fld id="{1FCEF87E-815D-44D1-B0AB-39AF0402D6A8}" type="slidenum">
              <a:rPr lang="en-US" smtClean="0"/>
              <a:pPr/>
              <a:t>3</a:t>
            </a:fld>
            <a:endParaRPr lang="en-US"/>
          </a:p>
        </p:txBody>
      </p:sp>
      <p:graphicFrame>
        <p:nvGraphicFramePr>
          <p:cNvPr id="7" name="Table 6">
            <a:extLst>
              <a:ext uri="{FF2B5EF4-FFF2-40B4-BE49-F238E27FC236}">
                <a16:creationId xmlns:a16="http://schemas.microsoft.com/office/drawing/2014/main" xmlns="" id="{ACE64048-76D1-E559-97A6-1E9DA8CC9F64}"/>
              </a:ext>
            </a:extLst>
          </p:cNvPr>
          <p:cNvGraphicFramePr>
            <a:graphicFrameLocks noGrp="1"/>
          </p:cNvGraphicFramePr>
          <p:nvPr>
            <p:extLst>
              <p:ext uri="{D42A27DB-BD31-4B8C-83A1-F6EECF244321}">
                <p14:modId xmlns:p14="http://schemas.microsoft.com/office/powerpoint/2010/main" xmlns="" val="3765845143"/>
              </p:ext>
            </p:extLst>
          </p:nvPr>
        </p:nvGraphicFramePr>
        <p:xfrm>
          <a:off x="1854200" y="2205222"/>
          <a:ext cx="8128000" cy="3388360"/>
        </p:xfrm>
        <a:graphic>
          <a:graphicData uri="http://schemas.openxmlformats.org/drawingml/2006/table">
            <a:tbl>
              <a:tblPr firstRow="1" bandRow="1">
                <a:tableStyleId>{21E4AEA4-8DFA-4A89-87EB-49C32662AFE0}</a:tableStyleId>
              </a:tblPr>
              <a:tblGrid>
                <a:gridCol w="4064000">
                  <a:extLst>
                    <a:ext uri="{9D8B030D-6E8A-4147-A177-3AD203B41FA5}">
                      <a16:colId xmlns:a16="http://schemas.microsoft.com/office/drawing/2014/main" xmlns="" val="4052004335"/>
                    </a:ext>
                  </a:extLst>
                </a:gridCol>
                <a:gridCol w="4064000">
                  <a:extLst>
                    <a:ext uri="{9D8B030D-6E8A-4147-A177-3AD203B41FA5}">
                      <a16:colId xmlns:a16="http://schemas.microsoft.com/office/drawing/2014/main" xmlns="" val="1251959847"/>
                    </a:ext>
                  </a:extLst>
                </a:gridCol>
              </a:tblGrid>
              <a:tr h="0">
                <a:tc>
                  <a:txBody>
                    <a:bodyPr/>
                    <a:lstStyle/>
                    <a:p>
                      <a:r>
                        <a:rPr lang="en-GB" dirty="0">
                          <a:solidFill>
                            <a:schemeClr val="tx1"/>
                          </a:solidFill>
                        </a:rPr>
                        <a:t>List</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solidFill>
                            <a:schemeClr val="tx1"/>
                          </a:solidFill>
                        </a:rPr>
                        <a:t>Git-hub Repository Links</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399369799"/>
                  </a:ext>
                </a:extLst>
              </a:tr>
              <a:tr h="370840">
                <a:tc>
                  <a:txBody>
                    <a:bodyPr/>
                    <a:lstStyle/>
                    <a:p>
                      <a:r>
                        <a:rPr lang="en-GB" dirty="0">
                          <a:solidFill>
                            <a:schemeClr val="tx1"/>
                          </a:solidFill>
                        </a:rPr>
                        <a:t>Implementation of Code Link</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smtClean="0">
                          <a:solidFill>
                            <a:srgbClr val="0070C0"/>
                          </a:solidFill>
                        </a:rPr>
                        <a:t>https://github.com/ASHWITHA2202/ASHWITHA-R_70028_ML/blob/main/cardiguard-ai_-ensemble-heart-disease-predictor.zip</a:t>
                      </a:r>
                      <a:endParaRPr lang="en-US"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996202207"/>
                  </a:ext>
                </a:extLst>
              </a:tr>
              <a:tr h="370840">
                <a:tc>
                  <a:txBody>
                    <a:bodyPr/>
                    <a:lstStyle/>
                    <a:p>
                      <a:r>
                        <a:rPr lang="en-GB" dirty="0">
                          <a:solidFill>
                            <a:schemeClr val="tx1"/>
                          </a:solidFill>
                        </a:rPr>
                        <a:t>Word Document Report Link</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smtClean="0">
                          <a:solidFill>
                            <a:srgbClr val="0070C0"/>
                          </a:solidFill>
                        </a:rPr>
                        <a:t>https://github.com/ASHWITHA2202/ASHWITHA-R_70028_ML/blob/main/HEART%20DISEASE%20PREDICTION%20_ML_MINIPROJECT.docx</a:t>
                      </a:r>
                      <a:endParaRPr lang="en-US"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251050083"/>
                  </a:ext>
                </a:extLst>
              </a:tr>
              <a:tr h="370840">
                <a:tc>
                  <a:txBody>
                    <a:bodyPr/>
                    <a:lstStyle/>
                    <a:p>
                      <a:r>
                        <a:rPr lang="en-GB" dirty="0">
                          <a:solidFill>
                            <a:schemeClr val="tx1"/>
                          </a:solidFill>
                        </a:rPr>
                        <a:t>PPT Link</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807241712"/>
                  </a:ext>
                </a:extLst>
              </a:tr>
            </a:tbl>
          </a:graphicData>
        </a:graphic>
      </p:graphicFrame>
    </p:spTree>
    <p:extLst>
      <p:ext uri="{BB962C8B-B14F-4D97-AF65-F5344CB8AC3E}">
        <p14:creationId xmlns:p14="http://schemas.microsoft.com/office/powerpoint/2010/main" xmlns="" val="519586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3ACC068-5F54-97E8-2F1C-0538F11269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F7B2B1AF-B7ED-6DDA-888D-9BCAF08EA5E4}"/>
              </a:ext>
            </a:extLst>
          </p:cNvPr>
          <p:cNvSpPr>
            <a:spLocks noGrp="1"/>
          </p:cNvSpPr>
          <p:nvPr>
            <p:ph type="title"/>
          </p:nvPr>
        </p:nvSpPr>
        <p:spPr>
          <a:xfrm>
            <a:off x="0" y="35509"/>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THEORETICAL BACKGROUND</a:t>
            </a:r>
            <a:endParaRPr lang="en-US" dirty="0">
              <a:solidFill>
                <a:schemeClr val="tx1"/>
              </a:solidFill>
            </a:endParaRPr>
          </a:p>
        </p:txBody>
      </p:sp>
      <p:sp>
        <p:nvSpPr>
          <p:cNvPr id="3" name="Content Placeholder 2">
            <a:extLst>
              <a:ext uri="{FF2B5EF4-FFF2-40B4-BE49-F238E27FC236}">
                <a16:creationId xmlns:a16="http://schemas.microsoft.com/office/drawing/2014/main" xmlns="" id="{FE67243E-1300-82BE-9968-6837E801AFFC}"/>
              </a:ext>
            </a:extLst>
          </p:cNvPr>
          <p:cNvSpPr>
            <a:spLocks noGrp="1"/>
          </p:cNvSpPr>
          <p:nvPr>
            <p:ph idx="1"/>
          </p:nvPr>
        </p:nvSpPr>
        <p:spPr>
          <a:xfrm>
            <a:off x="379562" y="1009290"/>
            <a:ext cx="11430000" cy="5589917"/>
          </a:xfrm>
        </p:spPr>
        <p:txBody>
          <a:bodyPr vert="horz" lIns="91440" tIns="45720" rIns="91440" bIns="45720" rtlCol="0" anchor="t">
            <a:normAutofit/>
          </a:bodyPr>
          <a:lstStyle/>
          <a:p>
            <a:r>
              <a:rPr lang="en-US" sz="2200" b="1" dirty="0" smtClean="0"/>
              <a:t>1. Heart Disease Prediction (Classification Problem)</a:t>
            </a:r>
            <a:r>
              <a:rPr lang="en-US" sz="2200" dirty="0" smtClean="0"/>
              <a:t/>
            </a:r>
            <a:br>
              <a:rPr lang="en-US" sz="2200" dirty="0" smtClean="0"/>
            </a:br>
            <a:r>
              <a:rPr lang="en-US" sz="2200" dirty="0" smtClean="0"/>
              <a:t>Heart disease prediction is a binary classification problem where the output is either presence (1) or absence (0) of disease. It uses patient data like age, cholesterol, blood pressure, and ECG results. The challenge is handling complex relationships between these features.</a:t>
            </a:r>
          </a:p>
          <a:p>
            <a:r>
              <a:rPr lang="en-US" sz="2200" b="1" dirty="0" smtClean="0"/>
              <a:t>2. Machine Learning Algorithms Used</a:t>
            </a:r>
            <a:r>
              <a:rPr lang="en-US" sz="2200" dirty="0" smtClean="0"/>
              <a:t/>
            </a:r>
            <a:br>
              <a:rPr lang="en-US" sz="2200" dirty="0" smtClean="0"/>
            </a:br>
            <a:r>
              <a:rPr lang="en-US" sz="2200" dirty="0" smtClean="0"/>
              <a:t>This project uses algorithms like Decision Tree and Logistic Regression. Decision Tree works on rule-based splitting of data, while Logistic Regression predicts probability using a mathematical function. Each model captures different patterns in the data.</a:t>
            </a:r>
          </a:p>
          <a:p>
            <a:r>
              <a:rPr lang="en-US" sz="2200" b="1" dirty="0" smtClean="0"/>
              <a:t>3. Ensemble Learning Approach</a:t>
            </a:r>
            <a:r>
              <a:rPr lang="en-US" sz="2200" dirty="0" smtClean="0"/>
              <a:t/>
            </a:r>
            <a:br>
              <a:rPr lang="en-US" sz="2200" dirty="0" smtClean="0"/>
            </a:br>
            <a:r>
              <a:rPr lang="en-US" sz="2200" dirty="0" smtClean="0"/>
              <a:t>Ensemble learning combines multiple models to improve accuracy and reliability. A Voting Classifier is used to aggregate predictions from different models. This reduces errors, especially false negatives, and provides better overall performance.</a:t>
            </a:r>
          </a:p>
          <a:p>
            <a:r>
              <a:rPr lang="en-US" sz="2200" b="1" dirty="0" smtClean="0"/>
              <a:t>4. Advantages of Ensemble Method</a:t>
            </a:r>
            <a:r>
              <a:rPr lang="en-US" sz="2200" dirty="0" smtClean="0"/>
              <a:t/>
            </a:r>
            <a:br>
              <a:rPr lang="en-US" sz="2200" dirty="0" smtClean="0"/>
            </a:br>
            <a:r>
              <a:rPr lang="en-US" sz="2200" dirty="0" smtClean="0"/>
              <a:t>It improves prediction accuracy compared to single models. It reduces </a:t>
            </a:r>
            <a:r>
              <a:rPr lang="en-US" sz="2200" dirty="0" err="1" smtClean="0"/>
              <a:t>overfitting</a:t>
            </a:r>
            <a:r>
              <a:rPr lang="en-US" sz="2200" dirty="0" smtClean="0"/>
              <a:t> and handles complex data effectively. It also provides more stable and reliable results for medical diagnosis</a:t>
            </a:r>
          </a:p>
          <a:p>
            <a:endParaRPr lang="en-US" sz="2000" dirty="0">
              <a:ea typeface="Calibri" panose="020F0502020204030204"/>
              <a:cs typeface="Calibri" panose="020F0502020204030204"/>
            </a:endParaRPr>
          </a:p>
        </p:txBody>
      </p:sp>
      <p:sp>
        <p:nvSpPr>
          <p:cNvPr id="4" name="Date Placeholder 3">
            <a:extLst>
              <a:ext uri="{FF2B5EF4-FFF2-40B4-BE49-F238E27FC236}">
                <a16:creationId xmlns:a16="http://schemas.microsoft.com/office/drawing/2014/main" xmlns="" id="{4AF593AB-ABA6-D8E8-42D9-A38FB7B4DB45}"/>
              </a:ext>
            </a:extLst>
          </p:cNvPr>
          <p:cNvSpPr>
            <a:spLocks noGrp="1"/>
          </p:cNvSpPr>
          <p:nvPr>
            <p:ph type="dt" sz="half" idx="10"/>
          </p:nvPr>
        </p:nvSpPr>
        <p:spPr/>
        <p:txBody>
          <a:bodyPr/>
          <a:lstStyle/>
          <a:p>
            <a:fld id="{316FBEDF-053F-468F-8CCF-D1ACE4FBB50D}" type="datetime1">
              <a:rPr lang="en-US" smtClean="0"/>
              <a:pPr/>
              <a:t>4/27/2026</a:t>
            </a:fld>
            <a:endParaRPr lang="en-US"/>
          </a:p>
        </p:txBody>
      </p:sp>
      <p:sp>
        <p:nvSpPr>
          <p:cNvPr id="5" name="Slide Number Placeholder 4">
            <a:extLst>
              <a:ext uri="{FF2B5EF4-FFF2-40B4-BE49-F238E27FC236}">
                <a16:creationId xmlns:a16="http://schemas.microsoft.com/office/drawing/2014/main" xmlns="" id="{40AE40CC-B05F-6325-A926-99504CD4A72F}"/>
              </a:ext>
            </a:extLst>
          </p:cNvPr>
          <p:cNvSpPr>
            <a:spLocks noGrp="1"/>
          </p:cNvSpPr>
          <p:nvPr>
            <p:ph type="sldNum" sz="quarter" idx="12"/>
          </p:nvPr>
        </p:nvSpPr>
        <p:spPr/>
        <p:txBody>
          <a:bodyPr/>
          <a:lstStyle/>
          <a:p>
            <a:fld id="{1FCEF87E-815D-44D1-B0AB-39AF0402D6A8}" type="slidenum">
              <a:rPr lang="en-US" smtClean="0"/>
              <a:pPr/>
              <a:t>4</a:t>
            </a:fld>
            <a:endParaRPr lang="en-US"/>
          </a:p>
        </p:txBody>
      </p:sp>
    </p:spTree>
    <p:extLst>
      <p:ext uri="{BB962C8B-B14F-4D97-AF65-F5344CB8AC3E}">
        <p14:creationId xmlns:p14="http://schemas.microsoft.com/office/powerpoint/2010/main" xmlns="" val="28326923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F55069-71B1-83F0-E5F5-B02F8F5772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1F358887-D4AD-6383-79D6-F528D34824D4}"/>
              </a:ext>
            </a:extLst>
          </p:cNvPr>
          <p:cNvSpPr>
            <a:spLocks noGrp="1"/>
          </p:cNvSpPr>
          <p:nvPr>
            <p:ph type="title"/>
          </p:nvPr>
        </p:nvSpPr>
        <p:spPr>
          <a:xfrm>
            <a:off x="238836" y="118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OUTPUT AND RESULTS</a:t>
            </a:r>
            <a:endParaRPr lang="en-US" dirty="0">
              <a:solidFill>
                <a:schemeClr val="tx1"/>
              </a:solidFill>
            </a:endParaRPr>
          </a:p>
        </p:txBody>
      </p:sp>
      <p:sp>
        <p:nvSpPr>
          <p:cNvPr id="4" name="Date Placeholder 3">
            <a:extLst>
              <a:ext uri="{FF2B5EF4-FFF2-40B4-BE49-F238E27FC236}">
                <a16:creationId xmlns:a16="http://schemas.microsoft.com/office/drawing/2014/main" xmlns="" id="{E47BACE5-322B-3F55-2CA9-8E1D4117021B}"/>
              </a:ext>
            </a:extLst>
          </p:cNvPr>
          <p:cNvSpPr>
            <a:spLocks noGrp="1"/>
          </p:cNvSpPr>
          <p:nvPr>
            <p:ph type="dt" sz="half" idx="10"/>
          </p:nvPr>
        </p:nvSpPr>
        <p:spPr/>
        <p:txBody>
          <a:bodyPr/>
          <a:lstStyle/>
          <a:p>
            <a:fld id="{C5480D13-07B8-4CF5-901F-BD1025D74351}" type="datetime1">
              <a:rPr lang="en-US" smtClean="0"/>
              <a:pPr/>
              <a:t>4/27/2026</a:t>
            </a:fld>
            <a:endParaRPr lang="en-US"/>
          </a:p>
        </p:txBody>
      </p:sp>
      <p:sp>
        <p:nvSpPr>
          <p:cNvPr id="5" name="Slide Number Placeholder 4">
            <a:extLst>
              <a:ext uri="{FF2B5EF4-FFF2-40B4-BE49-F238E27FC236}">
                <a16:creationId xmlns:a16="http://schemas.microsoft.com/office/drawing/2014/main" xmlns="" id="{A7D1AF6B-7EFE-60E0-2350-AE083D01AD8A}"/>
              </a:ext>
            </a:extLst>
          </p:cNvPr>
          <p:cNvSpPr>
            <a:spLocks noGrp="1"/>
          </p:cNvSpPr>
          <p:nvPr>
            <p:ph type="sldNum" sz="quarter" idx="12"/>
          </p:nvPr>
        </p:nvSpPr>
        <p:spPr/>
        <p:txBody>
          <a:bodyPr/>
          <a:lstStyle/>
          <a:p>
            <a:fld id="{1FCEF87E-815D-44D1-B0AB-39AF0402D6A8}" type="slidenum">
              <a:rPr lang="en-US" smtClean="0"/>
              <a:pPr/>
              <a:t>5</a:t>
            </a:fld>
            <a:endParaRPr lang="en-US"/>
          </a:p>
        </p:txBody>
      </p:sp>
      <p:pic>
        <p:nvPicPr>
          <p:cNvPr id="10" name="Picture 9" descr="Screenshot 2026-04-27 092901.png"/>
          <p:cNvPicPr>
            <a:picLocks noChangeAspect="1"/>
          </p:cNvPicPr>
          <p:nvPr/>
        </p:nvPicPr>
        <p:blipFill>
          <a:blip r:embed="rId2"/>
          <a:stretch>
            <a:fillRect/>
          </a:stretch>
        </p:blipFill>
        <p:spPr>
          <a:xfrm>
            <a:off x="590843" y="915419"/>
            <a:ext cx="11085342" cy="5358772"/>
          </a:xfrm>
          <a:prstGeom prst="rect">
            <a:avLst/>
          </a:prstGeom>
        </p:spPr>
      </p:pic>
    </p:spTree>
    <p:extLst>
      <p:ext uri="{BB962C8B-B14F-4D97-AF65-F5344CB8AC3E}">
        <p14:creationId xmlns:p14="http://schemas.microsoft.com/office/powerpoint/2010/main" xmlns="" val="2805269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AD63ECA-B59E-8742-1165-9911D2A450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DE0B2EF6-B936-B9EB-24E4-C84A062402DD}"/>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OUTPUT AND RESULTS</a:t>
            </a:r>
            <a:endParaRPr lang="en-US" dirty="0">
              <a:solidFill>
                <a:schemeClr val="tx1"/>
              </a:solidFill>
            </a:endParaRPr>
          </a:p>
        </p:txBody>
      </p:sp>
      <p:sp>
        <p:nvSpPr>
          <p:cNvPr id="4" name="Date Placeholder 3">
            <a:extLst>
              <a:ext uri="{FF2B5EF4-FFF2-40B4-BE49-F238E27FC236}">
                <a16:creationId xmlns:a16="http://schemas.microsoft.com/office/drawing/2014/main" xmlns="" id="{04773938-5370-329C-27AB-D82ECB9D7128}"/>
              </a:ext>
            </a:extLst>
          </p:cNvPr>
          <p:cNvSpPr>
            <a:spLocks noGrp="1"/>
          </p:cNvSpPr>
          <p:nvPr>
            <p:ph type="dt" sz="half" idx="10"/>
          </p:nvPr>
        </p:nvSpPr>
        <p:spPr/>
        <p:txBody>
          <a:bodyPr/>
          <a:lstStyle/>
          <a:p>
            <a:fld id="{C5480D13-07B8-4CF5-901F-BD1025D74351}" type="datetime1">
              <a:rPr lang="en-US" smtClean="0"/>
              <a:pPr/>
              <a:t>4/27/2026</a:t>
            </a:fld>
            <a:endParaRPr lang="en-US"/>
          </a:p>
        </p:txBody>
      </p:sp>
      <p:sp>
        <p:nvSpPr>
          <p:cNvPr id="5" name="Slide Number Placeholder 4">
            <a:extLst>
              <a:ext uri="{FF2B5EF4-FFF2-40B4-BE49-F238E27FC236}">
                <a16:creationId xmlns:a16="http://schemas.microsoft.com/office/drawing/2014/main" xmlns="" id="{E8A83B3C-8735-B8FC-8D50-B919B3471343}"/>
              </a:ext>
            </a:extLst>
          </p:cNvPr>
          <p:cNvSpPr>
            <a:spLocks noGrp="1"/>
          </p:cNvSpPr>
          <p:nvPr>
            <p:ph type="sldNum" sz="quarter" idx="12"/>
          </p:nvPr>
        </p:nvSpPr>
        <p:spPr/>
        <p:txBody>
          <a:bodyPr/>
          <a:lstStyle/>
          <a:p>
            <a:fld id="{1FCEF87E-815D-44D1-B0AB-39AF0402D6A8}" type="slidenum">
              <a:rPr lang="en-US" smtClean="0"/>
              <a:pPr/>
              <a:t>6</a:t>
            </a:fld>
            <a:endParaRPr lang="en-US"/>
          </a:p>
        </p:txBody>
      </p:sp>
      <p:sp>
        <p:nvSpPr>
          <p:cNvPr id="6" name="Content Placeholder 5">
            <a:extLst>
              <a:ext uri="{FF2B5EF4-FFF2-40B4-BE49-F238E27FC236}">
                <a16:creationId xmlns:a16="http://schemas.microsoft.com/office/drawing/2014/main" xmlns="" id="{7C44C232-176E-5E12-0851-2980CDC03FA2}"/>
              </a:ext>
            </a:extLst>
          </p:cNvPr>
          <p:cNvSpPr>
            <a:spLocks noGrp="1"/>
          </p:cNvSpPr>
          <p:nvPr>
            <p:ph idx="1"/>
          </p:nvPr>
        </p:nvSpPr>
        <p:spPr>
          <a:xfrm>
            <a:off x="306010" y="1366006"/>
            <a:ext cx="11047790" cy="4810957"/>
          </a:xfrm>
        </p:spPr>
        <p:txBody>
          <a:bodyPr vert="horz" lIns="91440" tIns="45720" rIns="91440" bIns="45720" rtlCol="0" anchor="t">
            <a:normAutofit/>
          </a:bodyPr>
          <a:lstStyle/>
          <a:p>
            <a:r>
              <a:rPr lang="en-US" sz="2200" b="1" dirty="0" smtClean="0"/>
              <a:t>1. System Output</a:t>
            </a:r>
            <a:r>
              <a:rPr lang="en-US" sz="2200" dirty="0" smtClean="0"/>
              <a:t/>
            </a:r>
            <a:br>
              <a:rPr lang="en-US" sz="2200" dirty="0" smtClean="0"/>
            </a:br>
            <a:r>
              <a:rPr lang="en-US" sz="2200" dirty="0" smtClean="0"/>
              <a:t>The system takes patient medical data such as age, blood pressure, cholesterol, and ECG values as input. It processes this data using multiple machine learning models combined through ensemble learning. The final output shows whether heart disease is present along with a confidence level.</a:t>
            </a:r>
          </a:p>
          <a:p>
            <a:r>
              <a:rPr lang="en-US" sz="2200" b="1" dirty="0" smtClean="0"/>
              <a:t>2. Model Performance</a:t>
            </a:r>
            <a:r>
              <a:rPr lang="en-US" sz="2200" dirty="0" smtClean="0"/>
              <a:t/>
            </a:r>
            <a:br>
              <a:rPr lang="en-US" sz="2200" dirty="0" smtClean="0"/>
            </a:br>
            <a:r>
              <a:rPr lang="en-US" sz="2200" dirty="0" smtClean="0"/>
              <a:t>The ensemble model achieved an accuracy of around </a:t>
            </a:r>
            <a:r>
              <a:rPr lang="en-US" sz="2200" b="1" dirty="0" smtClean="0"/>
              <a:t>85%–90%</a:t>
            </a:r>
            <a:r>
              <a:rPr lang="en-US" sz="2200" dirty="0" smtClean="0"/>
              <a:t>, showing strong prediction capability. It also provided good precision, recall, and F1 score values. These results indicate that the model performs reliably in identifying heart disease cases.</a:t>
            </a:r>
          </a:p>
          <a:p>
            <a:r>
              <a:rPr lang="en-US" sz="2200" b="1" dirty="0" smtClean="0"/>
              <a:t>3. Overall Result</a:t>
            </a:r>
            <a:r>
              <a:rPr lang="en-US" sz="2200" dirty="0" smtClean="0"/>
              <a:t/>
            </a:r>
            <a:br>
              <a:rPr lang="en-US" sz="2200" dirty="0" smtClean="0"/>
            </a:br>
            <a:r>
              <a:rPr lang="en-US" sz="2200" dirty="0" smtClean="0"/>
              <a:t>Compared to individual models, the ensemble approach improved accuracy and reduced prediction errors. It especially minimized false negatives, which is important in medical diagnosis. Overall, the system provides stable and effective predictions for heart disease detection</a:t>
            </a:r>
          </a:p>
          <a:p>
            <a:endParaRPr lang="en-US" sz="2400" dirty="0">
              <a:ea typeface="Calibri"/>
              <a:cs typeface="Calibri"/>
            </a:endParaRPr>
          </a:p>
        </p:txBody>
      </p:sp>
    </p:spTree>
    <p:extLst>
      <p:ext uri="{BB962C8B-B14F-4D97-AF65-F5344CB8AC3E}">
        <p14:creationId xmlns:p14="http://schemas.microsoft.com/office/powerpoint/2010/main" xmlns="" val="1263363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9DEA9EE-5679-A557-E7BF-0A904D0977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A2BF6077-2697-7116-5A2C-99B8054B7FE2}"/>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REFERENCES</a:t>
            </a:r>
            <a:endParaRPr lang="en-US" dirty="0">
              <a:solidFill>
                <a:schemeClr val="tx1"/>
              </a:solidFill>
            </a:endParaRPr>
          </a:p>
        </p:txBody>
      </p:sp>
      <p:sp>
        <p:nvSpPr>
          <p:cNvPr id="3" name="Content Placeholder 2">
            <a:extLst>
              <a:ext uri="{FF2B5EF4-FFF2-40B4-BE49-F238E27FC236}">
                <a16:creationId xmlns:a16="http://schemas.microsoft.com/office/drawing/2014/main" xmlns="" id="{D3AB1971-AF7F-80EE-26ED-EA8A7E8C7C21}"/>
              </a:ext>
            </a:extLst>
          </p:cNvPr>
          <p:cNvSpPr>
            <a:spLocks noGrp="1"/>
          </p:cNvSpPr>
          <p:nvPr>
            <p:ph idx="1"/>
          </p:nvPr>
        </p:nvSpPr>
        <p:spPr>
          <a:xfrm>
            <a:off x="829994" y="1603718"/>
            <a:ext cx="10592971" cy="4783014"/>
          </a:xfrm>
        </p:spPr>
        <p:txBody>
          <a:bodyPr vert="horz" lIns="91440" tIns="45720" rIns="91440" bIns="45720" rtlCol="0" anchor="t">
            <a:noAutofit/>
          </a:bodyPr>
          <a:lstStyle/>
          <a:p>
            <a:pPr algn="just"/>
            <a:r>
              <a:rPr lang="en-US" sz="2200" dirty="0" smtClean="0"/>
              <a:t>UCI Machine Learning Repository, </a:t>
            </a:r>
            <a:r>
              <a:rPr lang="en-US" sz="2200" i="1" dirty="0" smtClean="0"/>
              <a:t>Heart Disease Dataset</a:t>
            </a:r>
            <a:r>
              <a:rPr lang="en-US" sz="2200" dirty="0" smtClean="0"/>
              <a:t>.</a:t>
            </a:r>
            <a:br>
              <a:rPr lang="en-US" sz="2200" dirty="0" smtClean="0"/>
            </a:br>
            <a:r>
              <a:rPr lang="en-US" sz="2200" dirty="0" smtClean="0"/>
              <a:t>Available at: https://archive.ics.uci.edu/ml/datasets/heart+Disease </a:t>
            </a:r>
            <a:endParaRPr lang="en-US" sz="2200" dirty="0" smtClean="0"/>
          </a:p>
          <a:p>
            <a:pPr algn="just"/>
            <a:r>
              <a:rPr lang="en-US" sz="2200" dirty="0" err="1" smtClean="0"/>
              <a:t>Aurélien</a:t>
            </a:r>
            <a:r>
              <a:rPr lang="en-US" sz="2200" dirty="0" smtClean="0"/>
              <a:t> </a:t>
            </a:r>
            <a:r>
              <a:rPr lang="en-US" sz="2200" dirty="0" err="1" smtClean="0"/>
              <a:t>Géron</a:t>
            </a:r>
            <a:r>
              <a:rPr lang="en-US" sz="2200" dirty="0" smtClean="0"/>
              <a:t>, </a:t>
            </a:r>
            <a:r>
              <a:rPr lang="en-US" sz="2200" i="1" dirty="0" smtClean="0"/>
              <a:t>Hands-On Machine Learning with </a:t>
            </a:r>
            <a:r>
              <a:rPr lang="en-US" sz="2200" i="1" dirty="0" err="1" smtClean="0"/>
              <a:t>Scikit</a:t>
            </a:r>
            <a:r>
              <a:rPr lang="en-US" sz="2200" i="1" dirty="0" smtClean="0"/>
              <a:t>-Learn, </a:t>
            </a:r>
            <a:r>
              <a:rPr lang="en-US" sz="2200" i="1" dirty="0" err="1" smtClean="0"/>
              <a:t>Keras</a:t>
            </a:r>
            <a:r>
              <a:rPr lang="en-US" sz="2200" i="1" dirty="0" smtClean="0"/>
              <a:t>, and </a:t>
            </a:r>
            <a:r>
              <a:rPr lang="en-US" sz="2200" i="1" dirty="0" err="1" smtClean="0"/>
              <a:t>TensorFlow</a:t>
            </a:r>
            <a:r>
              <a:rPr lang="en-US" sz="2200" dirty="0" smtClean="0"/>
              <a:t>, 2nd Edition, O’Reilly Media, 2019</a:t>
            </a:r>
            <a:r>
              <a:rPr lang="en-US" sz="2200" dirty="0" smtClean="0"/>
              <a:t>.</a:t>
            </a:r>
          </a:p>
          <a:p>
            <a:pPr algn="just"/>
            <a:r>
              <a:rPr lang="en-US" sz="2200" dirty="0" smtClean="0"/>
              <a:t> </a:t>
            </a:r>
            <a:r>
              <a:rPr lang="en-US" sz="2200" dirty="0" smtClean="0"/>
              <a:t>Tom M. Mitchell, </a:t>
            </a:r>
            <a:r>
              <a:rPr lang="en-US" sz="2200" i="1" dirty="0" smtClean="0"/>
              <a:t>Machine Learning</a:t>
            </a:r>
            <a:r>
              <a:rPr lang="en-US" sz="2200" dirty="0" smtClean="0"/>
              <a:t>, McGraw-Hill Education, 1997</a:t>
            </a:r>
            <a:r>
              <a:rPr lang="en-US" sz="2200" dirty="0" smtClean="0"/>
              <a:t>.</a:t>
            </a:r>
          </a:p>
          <a:p>
            <a:pPr algn="just"/>
            <a:r>
              <a:rPr lang="en-US" sz="2200" dirty="0" smtClean="0"/>
              <a:t> </a:t>
            </a:r>
            <a:r>
              <a:rPr lang="en-US" sz="2200" dirty="0" err="1" smtClean="0"/>
              <a:t>Scikit</a:t>
            </a:r>
            <a:r>
              <a:rPr lang="en-US" sz="2200" dirty="0" smtClean="0"/>
              <a:t>-learn Documentation, </a:t>
            </a:r>
            <a:r>
              <a:rPr lang="en-US" sz="2200" i="1" dirty="0" smtClean="0"/>
              <a:t>Machine Learning in Python</a:t>
            </a:r>
            <a:r>
              <a:rPr lang="en-US" sz="2200" dirty="0" smtClean="0"/>
              <a:t>.</a:t>
            </a:r>
            <a:br>
              <a:rPr lang="en-US" sz="2200" dirty="0" smtClean="0"/>
            </a:br>
            <a:r>
              <a:rPr lang="en-US" sz="2200" dirty="0" smtClean="0"/>
              <a:t>Available at: </a:t>
            </a:r>
            <a:r>
              <a:rPr lang="en-US" sz="2200" dirty="0" smtClean="0">
                <a:hlinkClick r:id="rId2"/>
              </a:rPr>
              <a:t>https://scikit-learn.org/stable/</a:t>
            </a:r>
            <a:r>
              <a:rPr lang="en-US" sz="2200" dirty="0" smtClean="0"/>
              <a:t> </a:t>
            </a:r>
            <a:endParaRPr lang="en-US" sz="2200" dirty="0" smtClean="0"/>
          </a:p>
          <a:p>
            <a:pPr algn="just"/>
            <a:r>
              <a:rPr lang="en-US" sz="2200" dirty="0" err="1" smtClean="0"/>
              <a:t>Kaggle</a:t>
            </a:r>
            <a:r>
              <a:rPr lang="en-US" sz="2200" dirty="0" smtClean="0"/>
              <a:t>, </a:t>
            </a:r>
            <a:r>
              <a:rPr lang="en-US" sz="2200" i="1" dirty="0" smtClean="0"/>
              <a:t>Heart Disease Prediction Dataset and Notebooks</a:t>
            </a:r>
            <a:r>
              <a:rPr lang="en-US" sz="2200" dirty="0" smtClean="0"/>
              <a:t>.</a:t>
            </a:r>
            <a:br>
              <a:rPr lang="en-US" sz="2200" dirty="0" smtClean="0"/>
            </a:br>
            <a:r>
              <a:rPr lang="en-US" sz="2200" dirty="0" smtClean="0"/>
              <a:t>Available at: </a:t>
            </a:r>
            <a:r>
              <a:rPr lang="en-US" sz="2200" dirty="0" smtClean="0">
                <a:solidFill>
                  <a:srgbClr val="0070C0"/>
                </a:solidFill>
              </a:rPr>
              <a:t>https://www.kaggle.com/datasets/redwankarimsony/heart-disease-data</a:t>
            </a:r>
            <a:endParaRPr lang="en-US" sz="2200" dirty="0" smtClean="0">
              <a:solidFill>
                <a:srgbClr val="0070C0"/>
              </a:solidFill>
            </a:endParaRPr>
          </a:p>
          <a:p>
            <a:pPr algn="just"/>
            <a:r>
              <a:rPr lang="en-US" sz="2200" dirty="0" smtClean="0"/>
              <a:t>Ian </a:t>
            </a:r>
            <a:r>
              <a:rPr lang="en-US" sz="2200" dirty="0" smtClean="0"/>
              <a:t>H. Witten, </a:t>
            </a:r>
            <a:r>
              <a:rPr lang="en-US" sz="2200" dirty="0" err="1" smtClean="0"/>
              <a:t>Eibe</a:t>
            </a:r>
            <a:r>
              <a:rPr lang="en-US" sz="2200" dirty="0" smtClean="0"/>
              <a:t> Frank, Mark A. Hall, </a:t>
            </a:r>
            <a:r>
              <a:rPr lang="en-US" sz="2200" i="1" dirty="0" smtClean="0"/>
              <a:t>Data Mining: Practical Machine Learning Tools and Techniques</a:t>
            </a:r>
            <a:r>
              <a:rPr lang="en-US" sz="2200" dirty="0" smtClean="0"/>
              <a:t>, 3rd Edition, Morgan Kaufmann, 2011.</a:t>
            </a:r>
            <a:endParaRPr lang="en-US" sz="2200" dirty="0"/>
          </a:p>
        </p:txBody>
      </p:sp>
      <p:sp>
        <p:nvSpPr>
          <p:cNvPr id="4" name="Date Placeholder 3">
            <a:extLst>
              <a:ext uri="{FF2B5EF4-FFF2-40B4-BE49-F238E27FC236}">
                <a16:creationId xmlns:a16="http://schemas.microsoft.com/office/drawing/2014/main" xmlns="" id="{418721BC-42E2-4822-3086-5AF81F1A3726}"/>
              </a:ext>
            </a:extLst>
          </p:cNvPr>
          <p:cNvSpPr>
            <a:spLocks noGrp="1"/>
          </p:cNvSpPr>
          <p:nvPr>
            <p:ph type="dt" sz="half" idx="10"/>
          </p:nvPr>
        </p:nvSpPr>
        <p:spPr/>
        <p:txBody>
          <a:bodyPr/>
          <a:lstStyle/>
          <a:p>
            <a:fld id="{C5480D13-07B8-4CF5-901F-BD1025D74351}" type="datetime1">
              <a:rPr lang="en-US" smtClean="0"/>
              <a:pPr/>
              <a:t>4/27/2026</a:t>
            </a:fld>
            <a:endParaRPr lang="en-US"/>
          </a:p>
        </p:txBody>
      </p:sp>
      <p:sp>
        <p:nvSpPr>
          <p:cNvPr id="5" name="Slide Number Placeholder 4">
            <a:extLst>
              <a:ext uri="{FF2B5EF4-FFF2-40B4-BE49-F238E27FC236}">
                <a16:creationId xmlns:a16="http://schemas.microsoft.com/office/drawing/2014/main" xmlns="" id="{60D8BC28-15FA-0C88-32FB-88458DEBBC23}"/>
              </a:ext>
            </a:extLst>
          </p:cNvPr>
          <p:cNvSpPr>
            <a:spLocks noGrp="1"/>
          </p:cNvSpPr>
          <p:nvPr>
            <p:ph type="sldNum" sz="quarter" idx="12"/>
          </p:nvPr>
        </p:nvSpPr>
        <p:spPr/>
        <p:txBody>
          <a:bodyPr/>
          <a:lstStyle/>
          <a:p>
            <a:fld id="{1FCEF87E-815D-44D1-B0AB-39AF0402D6A8}" type="slidenum">
              <a:rPr lang="en-US" smtClean="0"/>
              <a:pPr/>
              <a:t>7</a:t>
            </a:fld>
            <a:endParaRPr lang="en-US"/>
          </a:p>
        </p:txBody>
      </p:sp>
    </p:spTree>
    <p:extLst>
      <p:ext uri="{BB962C8B-B14F-4D97-AF65-F5344CB8AC3E}">
        <p14:creationId xmlns:p14="http://schemas.microsoft.com/office/powerpoint/2010/main" xmlns="" val="7526071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TotalTime>
  <Words>244</Words>
  <Application>Microsoft Office PowerPoint</Application>
  <PresentationFormat>Custom</PresentationFormat>
  <Paragraphs>57</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DEPARTMENT OF ARTIFICIAL INTELLIGENCE AND DATA SCIENCE ACADEMIC YEAR 2025 - 2026 SEMESTER III ARTIFICIAL INTELLIGENCE LABORATORY  MINI PROJECT REVIEW  HEART DISEASE PREDICTION  USING  ENSEMBLE LEARNING</vt:lpstr>
      <vt:lpstr>PROBLEM STATEMENT</vt:lpstr>
      <vt:lpstr>IMPLEMENTATION AND CODE</vt:lpstr>
      <vt:lpstr>THEORETICAL BACKGROUND</vt:lpstr>
      <vt:lpstr>OUTPUT AND RESULTS</vt:lpstr>
      <vt:lpstr>OUTPUT AND RESULTS</vt:lpstr>
      <vt:lpstr>REFERENCES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ARTIFICIAL INTELLIGENCE AND DATA SCIENCE ACADEMIC YEAR 2025 - 2026 SEMESTER III ARTIFICIAL INTELLIGENCE LABORATORY  MINI PROJECT REVIEW  HEART DISEASE PREDICTION  USING  ENSEMBLE LEARNING</dc:title>
  <dc:creator>SANKAR GANESH K</dc:creator>
  <cp:lastModifiedBy>Ashwi</cp:lastModifiedBy>
  <cp:revision>52</cp:revision>
  <dcterms:created xsi:type="dcterms:W3CDTF">2025-10-18T08:57:34Z</dcterms:created>
  <dcterms:modified xsi:type="dcterms:W3CDTF">2026-04-27T13:30:14Z</dcterms:modified>
</cp:coreProperties>
</file>